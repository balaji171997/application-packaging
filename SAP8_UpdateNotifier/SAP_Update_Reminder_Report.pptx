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1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22960" y="187452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/>
            <a:r>
              <a:rPr lang="en-US" sz="4000" b="1" dirty="0">
                <a:solidFill>
                  <a:srgbClr val="FFFFFF"/>
                </a:solidFill>
              </a:rPr>
              <a:t>SAP GUI 7 → 8 Update Reminder</a:t>
            </a:r>
          </a:p>
          <a:p>
            <a:pPr algn="l"/>
            <a:r>
              <a:rPr lang="en-US" sz="2000" dirty="0">
                <a:solidFill>
                  <a:srgbClr val="CADCFC"/>
                </a:solidFill>
              </a:rPr>
              <a:t>Process overview and pilot execution report</a:t>
            </a:r>
          </a:p>
        </p:txBody>
      </p:sp>
      <p:sp>
        <p:nvSpPr>
          <p:cNvPr id="3" name="Shape 3"/>
          <p:cNvSpPr/>
          <p:nvPr/>
        </p:nvSpPr>
        <p:spPr>
          <a:xfrm>
            <a:off x="822960" y="3931920"/>
            <a:ext cx="10515600" cy="11887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/>
            <a:r>
              <a:rPr lang="en-US" sz="1300" dirty="0">
                <a:solidFill>
                  <a:srgbClr val="CADCFC"/>
                </a:solidFill>
              </a:rPr>
              <a:t>Package: SAP_SAPUpdateReminder_8.0_x64_MUL_0001  (PSADT v4.1.8, Intune Win32 required)</a:t>
            </a:r>
          </a:p>
          <a:p>
            <a:pPr algn="l"/>
            <a:r>
              <a:rPr lang="en-US" sz="1300" dirty="0">
                <a:solidFill>
                  <a:srgbClr val="CADCFC"/>
                </a:solidFill>
              </a:rPr>
              <a:t>3 pilot devices  •  16 executions  •  09–15 July 2026</a:t>
            </a:r>
          </a:p>
          <a:p>
            <a:pPr algn="l"/>
            <a:r>
              <a:rPr lang="en-US" sz="1300" dirty="0">
                <a:solidFill>
                  <a:srgbClr val="CADCFC"/>
                </a:solidFill>
              </a:rPr>
              <a:t>Packaging Team – Balaji  •  15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/>
          <p:cNvSpPr/>
          <p:nvPr/>
        </p:nvSpPr>
        <p:spPr>
          <a:xfrm>
            <a:off x="457200" y="292608"/>
            <a:ext cx="11274552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/>
            <a:r>
              <a:rPr lang="en-US" sz="2600" b="1" dirty="0">
                <a:solidFill>
                  <a:srgbClr val="1E2761"/>
                </a:solidFill>
              </a:rPr>
              <a:t>How the reminder works</a:t>
            </a:r>
          </a:p>
        </p:txBody>
      </p:sp>
      <p:sp>
        <p:nvSpPr>
          <p:cNvPr id="5" name="Shape 5"/>
          <p:cNvSpPr/>
          <p:nvPr/>
        </p:nvSpPr>
        <p:spPr>
          <a:xfrm>
            <a:off x="457200" y="1234440"/>
            <a:ext cx="1938528" cy="14173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Aft>
                <a:spcPts val="300"/>
              </a:spcAft>
            </a:pPr>
            <a:r>
              <a:rPr lang="en-US" sz="1300" b="1" dirty="0">
                <a:solidFill>
                  <a:srgbClr val="FFFFFF"/>
                </a:solidFill>
              </a:rPr>
              <a:t>Intune runs package</a:t>
            </a:r>
          </a:p>
          <a:p>
            <a:pPr algn="ctr"/>
            <a:r>
              <a:rPr lang="en-US" sz="1000" dirty="0">
                <a:solidFill>
                  <a:srgbClr val="CADCFC"/>
                </a:solidFill>
              </a:rPr>
              <a:t>Required Win32 app, SYSTEM context, Intune retry cycle</a:t>
            </a:r>
          </a:p>
        </p:txBody>
      </p:sp>
      <p:sp>
        <p:nvSpPr>
          <p:cNvPr id="6" name="Shape 6"/>
          <p:cNvSpPr/>
          <p:nvPr/>
        </p:nvSpPr>
        <p:spPr>
          <a:xfrm>
            <a:off x="2432304" y="1737360"/>
            <a:ext cx="228600" cy="411480"/>
          </a:xfrm>
          <a:prstGeom prst="rightArrow">
            <a:avLst/>
          </a:prstGeom>
          <a:solidFill>
            <a:srgbClr val="1E2761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/>
        </p:txBody>
      </p:sp>
      <p:sp>
        <p:nvSpPr>
          <p:cNvPr id="7" name="Shape 7"/>
          <p:cNvSpPr/>
          <p:nvPr/>
        </p:nvSpPr>
        <p:spPr>
          <a:xfrm>
            <a:off x="2697480" y="1234440"/>
            <a:ext cx="1938528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Aft>
                <a:spcPts val="300"/>
              </a:spcAft>
            </a:pPr>
            <a:r>
              <a:rPr lang="en-US" sz="1300" b="1" dirty="0">
                <a:solidFill>
                  <a:srgbClr val="1E2761"/>
                </a:solidFill>
              </a:rPr>
              <a:t>Check 1</a:t>
            </a:r>
          </a:p>
          <a:p>
            <a:pPr algn="ctr"/>
            <a:r>
              <a:rPr lang="en-US" sz="1000" dirty="0">
                <a:solidFill>
                  <a:srgbClr val="2A3140"/>
                </a:solidFill>
              </a:rPr>
              <a:t>SAP GUI 7 detected on the device?</a:t>
            </a:r>
          </a:p>
        </p:txBody>
      </p:sp>
      <p:sp>
        <p:nvSpPr>
          <p:cNvPr id="8" name="Shape 8"/>
          <p:cNvSpPr/>
          <p:nvPr/>
        </p:nvSpPr>
        <p:spPr>
          <a:xfrm>
            <a:off x="4672584" y="1737360"/>
            <a:ext cx="228600" cy="411480"/>
          </a:xfrm>
          <a:prstGeom prst="rightArrow">
            <a:avLst/>
          </a:prstGeom>
          <a:solidFill>
            <a:srgbClr val="1E2761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/>
        </p:txBody>
      </p:sp>
      <p:sp>
        <p:nvSpPr>
          <p:cNvPr id="9" name="Shape 9"/>
          <p:cNvSpPr/>
          <p:nvPr/>
        </p:nvSpPr>
        <p:spPr>
          <a:xfrm>
            <a:off x="4937760" y="1234440"/>
            <a:ext cx="1938528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Aft>
                <a:spcPts val="300"/>
              </a:spcAft>
            </a:pPr>
            <a:r>
              <a:rPr lang="en-US" sz="1300" b="1" dirty="0">
                <a:solidFill>
                  <a:srgbClr val="1E2761"/>
                </a:solidFill>
              </a:rPr>
              <a:t>Check 2</a:t>
            </a:r>
          </a:p>
          <a:p>
            <a:pPr algn="ctr"/>
            <a:r>
              <a:rPr lang="en-US" sz="1000" dirty="0">
                <a:solidFill>
                  <a:srgbClr val="2A3140"/>
                </a:solidFill>
              </a:rPr>
              <a:t>More than 24 h since last reminder (registry)?</a:t>
            </a:r>
          </a:p>
        </p:txBody>
      </p:sp>
      <p:sp>
        <p:nvSpPr>
          <p:cNvPr id="10" name="Shape 10"/>
          <p:cNvSpPr/>
          <p:nvPr/>
        </p:nvSpPr>
        <p:spPr>
          <a:xfrm>
            <a:off x="6912864" y="1737360"/>
            <a:ext cx="228600" cy="411480"/>
          </a:xfrm>
          <a:prstGeom prst="rightArrow">
            <a:avLst/>
          </a:prstGeom>
          <a:solidFill>
            <a:srgbClr val="1E2761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/>
        </p:txBody>
      </p:sp>
      <p:sp>
        <p:nvSpPr>
          <p:cNvPr id="11" name="Shape 11"/>
          <p:cNvSpPr/>
          <p:nvPr/>
        </p:nvSpPr>
        <p:spPr>
          <a:xfrm>
            <a:off x="7178040" y="1234440"/>
            <a:ext cx="1938528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Aft>
                <a:spcPts val="300"/>
              </a:spcAft>
            </a:pPr>
            <a:r>
              <a:rPr lang="en-US" sz="1300" b="1" dirty="0">
                <a:solidFill>
                  <a:srgbClr val="1E2761"/>
                </a:solidFill>
              </a:rPr>
              <a:t>Check 3</a:t>
            </a:r>
          </a:p>
          <a:p>
            <a:pPr algn="ctr"/>
            <a:r>
              <a:rPr lang="en-US" sz="1000" dirty="0">
                <a:solidFill>
                  <a:srgbClr val="2A3140"/>
                </a:solidFill>
              </a:rPr>
              <a:t>User logged on with an ACTIVE session?</a:t>
            </a:r>
          </a:p>
        </p:txBody>
      </p:sp>
      <p:sp>
        <p:nvSpPr>
          <p:cNvPr id="12" name="Shape 12"/>
          <p:cNvSpPr/>
          <p:nvPr/>
        </p:nvSpPr>
        <p:spPr>
          <a:xfrm>
            <a:off x="9153144" y="1737360"/>
            <a:ext cx="228600" cy="411480"/>
          </a:xfrm>
          <a:prstGeom prst="rightArrow">
            <a:avLst/>
          </a:prstGeom>
          <a:solidFill>
            <a:srgbClr val="1E2761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/>
        </p:txBody>
      </p:sp>
      <p:sp>
        <p:nvSpPr>
          <p:cNvPr id="13" name="Shape 13"/>
          <p:cNvSpPr/>
          <p:nvPr/>
        </p:nvSpPr>
        <p:spPr>
          <a:xfrm>
            <a:off x="9418320" y="1234440"/>
            <a:ext cx="1938528" cy="141732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Aft>
                <a:spcPts val="300"/>
              </a:spcAft>
            </a:pPr>
            <a:r>
              <a:rPr lang="en-US" sz="1300" b="1" dirty="0">
                <a:solidFill>
                  <a:srgbClr val="FFFFFF"/>
                </a:solidFill>
              </a:rPr>
              <a:t>Show reminder</a:t>
            </a:r>
          </a:p>
          <a:p>
            <a:pPr algn="ctr"/>
            <a:r>
              <a:rPr lang="en-US" sz="1000" dirty="0">
                <a:solidFill>
                  <a:srgbClr val="CADCFC"/>
                </a:solidFill>
              </a:rPr>
              <a:t>Prompt user + stamp LastExecutionUTC in registry</a:t>
            </a:r>
          </a:p>
        </p:txBody>
      </p:sp>
      <p:sp>
        <p:nvSpPr>
          <p:cNvPr id="14" name="Shape 14"/>
          <p:cNvSpPr/>
          <p:nvPr/>
        </p:nvSpPr>
        <p:spPr>
          <a:xfrm>
            <a:off x="2697480" y="2788920"/>
            <a:ext cx="6419088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ctr"/>
            <a:r>
              <a:rPr lang="en-US" sz="1100" i="1" dirty="0">
                <a:solidFill>
                  <a:srgbClr val="6B7385"/>
                </a:solidFill>
              </a:rPr>
              <a:t>Any check fails → close silently, exit 0 – no popup, no timestamp change, retried on the next Intune cycle</a:t>
            </a:r>
          </a:p>
        </p:txBody>
      </p:sp>
      <p:sp>
        <p:nvSpPr>
          <p:cNvPr id="15" name="Shape 15"/>
          <p:cNvSpPr/>
          <p:nvPr/>
        </p:nvSpPr>
        <p:spPr>
          <a:xfrm>
            <a:off x="457200" y="3429000"/>
            <a:ext cx="3602736" cy="2651760"/>
          </a:xfrm>
          <a:prstGeom prst="roundRect">
            <a:avLst>
              <a:gd name="adj" fmla="val 10000"/>
            </a:avLst>
          </a:prstGeom>
          <a:solidFill>
            <a:srgbClr val="F5F8F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lang="en-US" sz="1400" b="1" dirty="0">
                <a:solidFill>
                  <a:srgbClr val="1E2761"/>
                </a:solidFill>
              </a:rPr>
              <a:t>“Open Company Portal”</a:t>
            </a:r>
          </a:p>
          <a:p>
            <a:pPr marL="182880" indent="-182880" algn="l">
              <a:spcAft>
                <a:spcPts val="300"/>
              </a:spcAft>
              <a:buClr>
                <a:srgbClr val="1E2761"/>
              </a:buClr>
              <a:buFont typeface="Arial"/>
              <a:buChar char="•"/>
            </a:pPr>
            <a:r>
              <a:rPr lang="en-US" sz="1200" dirty="0">
                <a:solidFill>
                  <a:srgbClr val="2A3140"/>
                </a:solidFill>
              </a:rPr>
              <a:t>Opens the SAP GUI 8 page directly via the companyportal: deep link.</a:t>
            </a:r>
          </a:p>
          <a:p>
            <a:pPr marL="182880" indent="-182880" algn="l">
              <a:buClr>
                <a:srgbClr val="1E2761"/>
              </a:buClr>
              <a:buFont typeface="Arial"/>
              <a:buChar char="•"/>
            </a:pPr>
            <a:r>
              <a:rPr lang="en-US" sz="1200" dirty="0">
                <a:solidFill>
                  <a:srgbClr val="2A3140"/>
                </a:solidFill>
              </a:rPr>
              <a:t>User just clicks Install – the install is Company Portal managed, seeding future auto-update.</a:t>
            </a:r>
          </a:p>
        </p:txBody>
      </p:sp>
      <p:sp>
        <p:nvSpPr>
          <p:cNvPr id="16" name="Shape 16"/>
          <p:cNvSpPr/>
          <p:nvPr/>
        </p:nvSpPr>
        <p:spPr>
          <a:xfrm>
            <a:off x="4297680" y="3429000"/>
            <a:ext cx="3602736" cy="2651760"/>
          </a:xfrm>
          <a:prstGeom prst="roundRect">
            <a:avLst>
              <a:gd name="adj" fmla="val 10000"/>
            </a:avLst>
          </a:prstGeom>
          <a:solidFill>
            <a:srgbClr val="F5F8F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lang="en-US" sz="1400" b="1" dirty="0">
                <a:solidFill>
                  <a:srgbClr val="1E2761"/>
                </a:solidFill>
              </a:rPr>
              <a:t>“Remind Me Later”</a:t>
            </a:r>
          </a:p>
          <a:p>
            <a:pPr marL="182880" indent="-182880" algn="l">
              <a:spcAft>
                <a:spcPts val="300"/>
              </a:spcAft>
              <a:buClr>
                <a:srgbClr val="1E2761"/>
              </a:buClr>
              <a:buFont typeface="Arial"/>
              <a:buChar char="•"/>
            </a:pPr>
            <a:r>
              <a:rPr lang="en-US" sz="1200" dirty="0">
                <a:solidFill>
                  <a:srgbClr val="2A3140"/>
                </a:solidFill>
              </a:rPr>
              <a:t>Dialog closes; reminder returns after the 24 h window has passed.</a:t>
            </a:r>
          </a:p>
          <a:p>
            <a:pPr marL="182880" indent="-182880" algn="l">
              <a:buClr>
                <a:srgbClr val="1E2761"/>
              </a:buClr>
              <a:buFont typeface="Arial"/>
              <a:buChar char="•"/>
            </a:pPr>
            <a:r>
              <a:rPr lang="en-US" sz="1200" dirty="0">
                <a:solidFill>
                  <a:srgbClr val="2A3140"/>
                </a:solidFill>
              </a:rPr>
              <a:t>Timestamp was already stamped when the reminder was shown, so the user is never nagged twice in a day.</a:t>
            </a:r>
          </a:p>
        </p:txBody>
      </p:sp>
      <p:sp>
        <p:nvSpPr>
          <p:cNvPr id="17" name="Shape 17"/>
          <p:cNvSpPr/>
          <p:nvPr/>
        </p:nvSpPr>
        <p:spPr>
          <a:xfrm>
            <a:off x="8138160" y="3429000"/>
            <a:ext cx="3602736" cy="2651760"/>
          </a:xfrm>
          <a:prstGeom prst="roundRect">
            <a:avLst>
              <a:gd name="adj" fmla="val 10000"/>
            </a:avLst>
          </a:prstGeom>
          <a:solidFill>
            <a:srgbClr val="F5F8F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lang="en-US" sz="1400" b="1" dirty="0">
                <a:solidFill>
                  <a:srgbClr val="1E2761"/>
                </a:solidFill>
              </a:rPr>
              <a:t>Registry throttle</a:t>
            </a:r>
          </a:p>
          <a:p>
            <a:pPr algn="l">
              <a:spcAft>
                <a:spcPts val="200"/>
              </a:spcAft>
            </a:pPr>
            <a:r>
              <a:rPr lang="en-US" sz="1100" b="1" dirty="0">
                <a:solidFill>
                  <a:srgbClr val="2A3140"/>
                </a:solidFill>
              </a:rPr>
              <a:t>HKLM\SOFTWARE\VWG\CM\SAPReminder</a:t>
            </a:r>
          </a:p>
          <a:p>
            <a:pPr marL="182880" indent="-182880" algn="l">
              <a:spcAft>
                <a:spcPts val="300"/>
              </a:spcAft>
              <a:buClr>
                <a:srgbClr val="1E2761"/>
              </a:buClr>
              <a:buFont typeface="Arial"/>
              <a:buChar char="•"/>
            </a:pPr>
            <a:r>
              <a:rPr lang="en-US" sz="1200" dirty="0">
                <a:solidFill>
                  <a:srgbClr val="2A3140"/>
                </a:solidFill>
              </a:rPr>
              <a:t>Value LastExecutionUTC – written only when a reminder is actually shown.</a:t>
            </a:r>
          </a:p>
          <a:p>
            <a:pPr marL="182880" indent="-182880" algn="l">
              <a:buClr>
                <a:srgbClr val="1E2761"/>
              </a:buClr>
              <a:buFont typeface="Arial"/>
              <a:buChar char="•"/>
            </a:pPr>
            <a:r>
              <a:rPr lang="en-US" sz="1200" dirty="0">
                <a:solidFill>
                  <a:srgbClr val="2A3140"/>
                </a:solidFill>
              </a:rPr>
              <a:t>Skipped cycles (user away) never burn the window.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/>
          <p:nvPr/>
        </p:nvSpPr>
        <p:spPr>
          <a:xfrm>
            <a:off x="457200" y="292608"/>
            <a:ext cx="11274552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/>
            <a:r>
              <a:rPr lang="en-US" sz="2600" b="1" dirty="0">
                <a:solidFill>
                  <a:srgbClr val="1E2761"/>
                </a:solidFill>
              </a:rPr>
              <a:t>Pilot at a glance – 09–15 July 2026</a:t>
            </a:r>
          </a:p>
        </p:txBody>
      </p:sp>
      <p:sp>
        <p:nvSpPr>
          <p:cNvPr id="20" name="Shape 20"/>
          <p:cNvSpPr/>
          <p:nvPr/>
        </p:nvSpPr>
        <p:spPr>
          <a:xfrm>
            <a:off x="457200" y="1234440"/>
            <a:ext cx="3602736" cy="3200400"/>
          </a:xfrm>
          <a:prstGeom prst="roundRect">
            <a:avLst>
              <a:gd name="adj" fmla="val 10000"/>
            </a:avLst>
          </a:prstGeom>
          <a:solidFill>
            <a:srgbClr val="F5F8F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/>
            <a:r>
              <a:rPr lang="en-US" sz="1400" b="1" dirty="0">
                <a:solidFill>
                  <a:srgbClr val="1E2761"/>
                </a:solidFill>
              </a:rPr>
              <a:t>CPC-DHANA-5YRHM</a:t>
            </a:r>
          </a:p>
          <a:p>
            <a:pPr algn="l">
              <a:spcAft>
                <a:spcPts val="400"/>
              </a:spcAft>
            </a:pPr>
            <a:r>
              <a:rPr lang="en-US" sz="1100" dirty="0">
                <a:solidFill>
                  <a:srgbClr val="6B7385"/>
                </a:solidFill>
              </a:rPr>
              <a:t>User ac265</a:t>
            </a:r>
          </a:p>
          <a:p>
            <a:pPr marL="182880" indent="-182880" algn="l">
              <a:buClr>
                <a:srgbClr val="1E2761"/>
              </a:buClr>
              <a:buFont typeface="Arial"/>
              <a:buChar char="•"/>
            </a:pPr>
            <a:r>
              <a:rPr lang="en-US" sz="1200" dirty="0">
                <a:solidFill>
                  <a:srgbClr val="2A3140"/>
                </a:solidFill>
              </a:rPr>
              <a:t>1 execution (14 Jul)</a:t>
            </a:r>
          </a:p>
          <a:p>
            <a:pPr marL="182880" indent="-182880" algn="l">
              <a:buClr>
                <a:srgbClr val="1E2761"/>
              </a:buClr>
              <a:buFont typeface="Arial"/>
              <a:buChar char="•"/>
            </a:pPr>
            <a:r>
              <a:rPr lang="en-US" sz="1200" dirty="0">
                <a:solidFill>
                  <a:srgbClr val="2A3140"/>
                </a:solidFill>
              </a:rPr>
              <a:t>SAP GUI 7 not detected → closed silently in 1.6 s</a:t>
            </a:r>
          </a:p>
          <a:p>
            <a:pPr marL="182880" indent="-182880" algn="l">
              <a:buClr>
                <a:srgbClr val="1E2761"/>
              </a:buClr>
              <a:buFont typeface="Arial"/>
              <a:buChar char="•"/>
            </a:pPr>
            <a:r>
              <a:rPr lang="en-US" sz="1200" dirty="0">
                <a:solidFill>
                  <a:srgbClr val="2A3140"/>
                </a:solidFill>
              </a:rPr>
              <a:t>No reminder ever shown – correct no-op behaviour</a:t>
            </a:r>
          </a:p>
        </p:txBody>
      </p:sp>
      <p:sp>
        <p:nvSpPr>
          <p:cNvPr id="21" name="Shape 21"/>
          <p:cNvSpPr/>
          <p:nvPr/>
        </p:nvSpPr>
        <p:spPr>
          <a:xfrm>
            <a:off x="4297680" y="1234440"/>
            <a:ext cx="3602736" cy="3200400"/>
          </a:xfrm>
          <a:prstGeom prst="roundRect">
            <a:avLst>
              <a:gd name="adj" fmla="val 10000"/>
            </a:avLst>
          </a:prstGeom>
          <a:solidFill>
            <a:srgbClr val="F5F8F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/>
            <a:r>
              <a:rPr lang="en-US" sz="1400" b="1" dirty="0">
                <a:solidFill>
                  <a:srgbClr val="1E2761"/>
                </a:solidFill>
              </a:rPr>
              <a:t>CPC-MADHU-OTHOS</a:t>
            </a:r>
          </a:p>
          <a:p>
            <a:pPr algn="l">
              <a:spcAft>
                <a:spcPts val="400"/>
              </a:spcAft>
            </a:pPr>
            <a:r>
              <a:rPr lang="en-US" sz="1100" dirty="0">
                <a:solidFill>
                  <a:srgbClr val="6B7385"/>
                </a:solidFill>
              </a:rPr>
              <a:t>User l2840</a:t>
            </a:r>
          </a:p>
          <a:p>
            <a:pPr marL="182880" indent="-182880" algn="l">
              <a:buClr>
                <a:srgbClr val="1E2761"/>
              </a:buClr>
              <a:buFont typeface="Arial"/>
              <a:buChar char="•"/>
            </a:pPr>
            <a:r>
              <a:rPr lang="en-US" sz="1200" dirty="0">
                <a:solidFill>
                  <a:srgbClr val="2A3140"/>
                </a:solidFill>
              </a:rPr>
              <a:t>7 executions over 7 days</a:t>
            </a:r>
          </a:p>
          <a:p>
            <a:pPr marL="182880" indent="-182880" algn="l">
              <a:buClr>
                <a:srgbClr val="1E2761"/>
              </a:buClr>
              <a:buFont typeface="Arial"/>
              <a:buChar char="•"/>
            </a:pPr>
            <a:r>
              <a:rPr lang="en-US" sz="1200" dirty="0">
                <a:solidFill>
                  <a:srgbClr val="2A3140"/>
                </a:solidFill>
              </a:rPr>
              <a:t>2 no-op (SAP 7 absent), 3 skips (user not active)</a:t>
            </a:r>
          </a:p>
          <a:p>
            <a:pPr marL="182880" indent="-182880" algn="l">
              <a:buClr>
                <a:srgbClr val="1E2761"/>
              </a:buClr>
              <a:buFont typeface="Arial"/>
              <a:buChar char="•"/>
            </a:pPr>
            <a:r>
              <a:rPr lang="en-US" sz="1200" dirty="0">
                <a:solidFill>
                  <a:srgbClr val="2A3140"/>
                </a:solidFill>
              </a:rPr>
              <a:t>14 Jul: reminder → Remind Me Later</a:t>
            </a:r>
          </a:p>
          <a:p>
            <a:pPr marL="182880" indent="-182880" algn="l">
              <a:buClr>
                <a:srgbClr val="1E2761"/>
              </a:buClr>
              <a:buFont typeface="Arial"/>
              <a:buChar char="•"/>
            </a:pPr>
            <a:r>
              <a:rPr lang="en-US" sz="1200" dirty="0">
                <a:solidFill>
                  <a:srgbClr val="2A3140"/>
                </a:solidFill>
              </a:rPr>
              <a:t>15 Jul (25 h later): reminder → Open Company Portal</a:t>
            </a:r>
          </a:p>
        </p:txBody>
      </p:sp>
      <p:sp>
        <p:nvSpPr>
          <p:cNvPr id="22" name="Shape 22"/>
          <p:cNvSpPr/>
          <p:nvPr/>
        </p:nvSpPr>
        <p:spPr>
          <a:xfrm>
            <a:off x="8138160" y="1234440"/>
            <a:ext cx="3602736" cy="3200400"/>
          </a:xfrm>
          <a:prstGeom prst="roundRect">
            <a:avLst>
              <a:gd name="adj" fmla="val 10000"/>
            </a:avLst>
          </a:prstGeom>
          <a:solidFill>
            <a:srgbClr val="F5F8F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/>
            <a:r>
              <a:rPr lang="en-US" sz="1400" b="1" dirty="0">
                <a:solidFill>
                  <a:srgbClr val="1E2761"/>
                </a:solidFill>
              </a:rPr>
              <a:t>CPC-GURRA-KFCPD</a:t>
            </a:r>
          </a:p>
          <a:p>
            <a:pPr algn="l">
              <a:spcAft>
                <a:spcPts val="400"/>
              </a:spcAft>
            </a:pPr>
            <a:r>
              <a:rPr lang="en-US" sz="1100" dirty="0">
                <a:solidFill>
                  <a:srgbClr val="6B7385"/>
                </a:solidFill>
              </a:rPr>
              <a:t>User aw140 (test device)</a:t>
            </a:r>
          </a:p>
          <a:p>
            <a:pPr marL="182880" indent="-182880" algn="l">
              <a:buClr>
                <a:srgbClr val="1E2761"/>
              </a:buClr>
              <a:buFont typeface="Arial"/>
              <a:buChar char="•"/>
            </a:pPr>
            <a:r>
              <a:rPr lang="en-US" sz="1200" dirty="0">
                <a:solidFill>
                  <a:srgbClr val="2A3140"/>
                </a:solidFill>
              </a:rPr>
              <a:t>8 executions incl. 1 manual test</a:t>
            </a:r>
          </a:p>
          <a:p>
            <a:pPr marL="182880" indent="-182880" algn="l">
              <a:buClr>
                <a:srgbClr val="1E2761"/>
              </a:buClr>
              <a:buFont typeface="Arial"/>
              <a:buChar char="•"/>
            </a:pPr>
            <a:r>
              <a:rPr lang="en-US" sz="1200" dirty="0">
                <a:solidFill>
                  <a:srgbClr val="2A3140"/>
                </a:solidFill>
              </a:rPr>
              <a:t>4 reminders shown – user opened Company Portal every time</a:t>
            </a:r>
          </a:p>
          <a:p>
            <a:pPr marL="182880" indent="-182880" algn="l">
              <a:buClr>
                <a:srgbClr val="1E2761"/>
              </a:buClr>
              <a:buFont typeface="Arial"/>
              <a:buChar char="•"/>
            </a:pPr>
            <a:r>
              <a:rPr lang="en-US" sz="1200" dirty="0">
                <a:solidFill>
                  <a:srgbClr val="2A3140"/>
                </a:solidFill>
              </a:rPr>
              <a:t>4 skips while session locked / disconnected</a:t>
            </a:r>
          </a:p>
        </p:txBody>
      </p:sp>
      <p:sp>
        <p:nvSpPr>
          <p:cNvPr id="23" name="Shape 23"/>
          <p:cNvSpPr/>
          <p:nvPr/>
        </p:nvSpPr>
        <p:spPr>
          <a:xfrm>
            <a:off x="457200" y="4709160"/>
            <a:ext cx="2139696" cy="155448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16</a:t>
            </a:r>
          </a:p>
          <a:p>
            <a:pPr algn="ctr"/>
            <a:r>
              <a:rPr lang="en-US" sz="1100" dirty="0">
                <a:solidFill>
                  <a:srgbClr val="CADCFC"/>
                </a:solidFill>
              </a:rPr>
              <a:t>executions</a:t>
            </a:r>
          </a:p>
        </p:txBody>
      </p:sp>
      <p:sp>
        <p:nvSpPr>
          <p:cNvPr id="24" name="Shape 24"/>
          <p:cNvSpPr/>
          <p:nvPr/>
        </p:nvSpPr>
        <p:spPr>
          <a:xfrm>
            <a:off x="2743200" y="4709160"/>
            <a:ext cx="2139696" cy="155448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6</a:t>
            </a:r>
          </a:p>
          <a:p>
            <a:pPr algn="ctr"/>
            <a:r>
              <a:rPr lang="en-US" sz="1100" dirty="0">
                <a:solidFill>
                  <a:srgbClr val="CADCFC"/>
                </a:solidFill>
              </a:rPr>
              <a:t>reminders shown</a:t>
            </a:r>
          </a:p>
        </p:txBody>
      </p:sp>
      <p:sp>
        <p:nvSpPr>
          <p:cNvPr id="25" name="Shape 25"/>
          <p:cNvSpPr/>
          <p:nvPr/>
        </p:nvSpPr>
        <p:spPr>
          <a:xfrm>
            <a:off x="5029200" y="4709160"/>
            <a:ext cx="2139696" cy="155448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5</a:t>
            </a:r>
          </a:p>
          <a:p>
            <a:pPr algn="ctr"/>
            <a:r>
              <a:rPr lang="en-US" sz="1100" dirty="0">
                <a:solidFill>
                  <a:srgbClr val="CADCFC"/>
                </a:solidFill>
              </a:rPr>
              <a:t>Company Portal opens</a:t>
            </a:r>
          </a:p>
        </p:txBody>
      </p:sp>
      <p:sp>
        <p:nvSpPr>
          <p:cNvPr id="26" name="Shape 26"/>
          <p:cNvSpPr/>
          <p:nvPr/>
        </p:nvSpPr>
        <p:spPr>
          <a:xfrm>
            <a:off x="7315200" y="4709160"/>
            <a:ext cx="2139696" cy="155448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7</a:t>
            </a:r>
          </a:p>
          <a:p>
            <a:pPr algn="ctr"/>
            <a:r>
              <a:rPr lang="en-US" sz="1100" dirty="0">
                <a:solidFill>
                  <a:srgbClr val="CADCFC"/>
                </a:solidFill>
              </a:rPr>
              <a:t>quiet skips (user away)</a:t>
            </a:r>
          </a:p>
        </p:txBody>
      </p:sp>
      <p:sp>
        <p:nvSpPr>
          <p:cNvPr id="27" name="Shape 27"/>
          <p:cNvSpPr/>
          <p:nvPr/>
        </p:nvSpPr>
        <p:spPr>
          <a:xfrm>
            <a:off x="9601200" y="4709160"/>
            <a:ext cx="2139696" cy="155448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0</a:t>
            </a:r>
          </a:p>
          <a:p>
            <a:pPr algn="ctr"/>
            <a:r>
              <a:rPr lang="en-US" sz="1100" dirty="0">
                <a:solidFill>
                  <a:srgbClr val="CADCFC"/>
                </a:solidFill>
              </a:rPr>
              <a:t>errors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8"/>
          <p:cNvSpPr/>
          <p:nvPr/>
        </p:nvSpPr>
        <p:spPr>
          <a:xfrm>
            <a:off x="457200" y="292608"/>
            <a:ext cx="11274552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/>
            <a:r>
              <a:rPr lang="en-US" sz="2600" b="1" dirty="0">
                <a:solidFill>
                  <a:srgbClr val="1E2761"/>
                </a:solidFill>
              </a:rPr>
              <a:t>Report – CPC-DHANA-5YRHM  (user ac265)</a:t>
            </a:r>
          </a:p>
        </p:txBody>
      </p:sp>
      <p:graphicFrame>
        <p:nvGraphicFramePr>
          <p:cNvPr id="29" name="Table 29"/>
          <p:cNvGraphicFramePr>
            <a:graphicFrameLocks noGrp="1"/>
          </p:cNvGraphicFramePr>
          <p:nvPr/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 firstRow="1"/>
              <a:tblGrid>
                <a:gridCol w="347472"/>
                <a:gridCol w="1600200"/>
                <a:gridCol w="1417320"/>
                <a:gridCol w="1417320"/>
                <a:gridCol w="2651760"/>
                <a:gridCol w="3840480"/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Executed (UTC)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Since previous run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User status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What the user did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What the script did and how it closed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1E276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2A3140"/>
                          </a:solidFill>
                        </a:rPr>
                        <a:t>1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2A3140"/>
                          </a:solidFill>
                        </a:rPr>
                        <a:t>Tue 14 Jul 12:43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2A3140"/>
                          </a:solidFill>
                        </a:rPr>
                        <a:t>first logged run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2A3140"/>
                          </a:solidFill>
                        </a:rPr>
                        <a:t>Active (RDP session)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2A3140"/>
                          </a:solidFill>
                        </a:rPr>
                        <a:t>—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2A3140"/>
                          </a:solidFill>
                        </a:rPr>
                        <a:t>—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2A3140"/>
                          </a:solidFill>
                        </a:rPr>
                        <a:t>SAP GUI 7 not detected 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2A3140"/>
                          </a:solidFill>
                        </a:rPr>
                        <a:t>→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rgbClr val="2A3140"/>
                          </a:solidFill>
                        </a:rPr>
                        <a:t> no reminder needed; session closed, exit 0 (1.6 s)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30"/>
          <p:cNvSpPr/>
          <p:nvPr/>
        </p:nvSpPr>
        <p:spPr>
          <a:xfrm>
            <a:off x="457200" y="2926080"/>
            <a:ext cx="11247120" cy="10058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/>
            <a:r>
              <a:rPr lang="en-US" sz="1300" dirty="0">
                <a:solidFill>
                  <a:srgbClr val="2A3140"/>
                </a:solidFill>
              </a:rPr>
              <a:t>Only one execution reached this device so far. SAP GUI 7 was not found, so the script exited quietly at check 1 – the user never saw a popup and no registry timestamp was created.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/>
          <p:nvPr/>
        </p:nvSpPr>
        <p:spPr>
          <a:xfrm>
            <a:off x="457200" y="292608"/>
            <a:ext cx="11274552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/>
            <a:r>
              <a:rPr lang="en-US" sz="2600" b="1" dirty="0">
                <a:solidFill>
                  <a:srgbClr val="1E2761"/>
                </a:solidFill>
              </a:rPr>
              <a:t>Report – CPC-MADHU-OTHOS  (user l2840)</a:t>
            </a:r>
          </a:p>
        </p:txBody>
      </p:sp>
      <p:graphicFrame>
        <p:nvGraphicFramePr>
          <p:cNvPr id="32" name="Table 32"/>
          <p:cNvGraphicFramePr>
            <a:graphicFrameLocks noGrp="1"/>
          </p:cNvGraphicFramePr>
          <p:nvPr/>
        </p:nvGraphicFramePr>
        <p:xfrm>
          <a:off x="457200" y="1143000"/>
          <a:ext cx="11274552" cy="914400"/>
        </p:xfrm>
        <a:graphic>
          <a:graphicData uri="http://schemas.openxmlformats.org/drawingml/2006/table">
            <a:tbl>
              <a:tblPr firstRow="1"/>
              <a:tblGrid>
                <a:gridCol w="347472"/>
                <a:gridCol w="1600200"/>
                <a:gridCol w="1417320"/>
                <a:gridCol w="1417320"/>
                <a:gridCol w="2651760"/>
                <a:gridCol w="3840480"/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Executed (UTC)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Since previous run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User status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What the user did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What the script did and how it closed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1E276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2A3140"/>
                          </a:solidFill>
                        </a:rPr>
                        <a:t>1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2A3140"/>
                          </a:solidFill>
                        </a:rPr>
                        <a:t>Thu 09 Jul 04:26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2A3140"/>
                          </a:solidFill>
                        </a:rPr>
                        <a:t>first logged run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2A3140"/>
                          </a:solidFill>
                        </a:rPr>
                        <a:t>Logged on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2A3140"/>
                          </a:solidFill>
                        </a:rPr>
                        <a:t>—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2A3140"/>
                          </a:solidFill>
                        </a:rPr>
                        <a:t>SAP GUI 7 not found → closed silently, exit 0 (3.6 s)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2A3140"/>
                          </a:solidFill>
                        </a:rPr>
                        <a:t>2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2A3140"/>
                          </a:solidFill>
                        </a:rPr>
                        <a:t>Fri 10 Jul 12:44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2A3140"/>
                          </a:solidFill>
                        </a:rPr>
                        <a:t>1 d 08 h 19 m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2A3140"/>
                          </a:solidFill>
                        </a:rPr>
                        <a:t>Logged on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2A3140"/>
                          </a:solidFill>
                        </a:rPr>
                        <a:t>—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2A3140"/>
                          </a:solidFill>
                        </a:rPr>
                        <a:t>SAP GUI 7 not found → closed silently, exit 0 (1.5 s)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1F5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2A3140"/>
                          </a:solidFill>
                        </a:rPr>
                        <a:t>3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2A3140"/>
                          </a:solidFill>
                        </a:rPr>
                        <a:t>Sat 11 Jul 14:11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2A3140"/>
                          </a:solidFill>
                        </a:rPr>
                        <a:t>1 d 01 h 27 m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2A3140"/>
                          </a:solidFill>
                        </a:rPr>
                        <a:t>Not active (locked / disconnected)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2A3140"/>
                          </a:solidFill>
                        </a:rPr>
                        <a:t>—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2A3140"/>
                          </a:solidFill>
                        </a:rPr>
                        <a:t>SAP 7 now present; no timestamp yet; user not active → skipped, timestamp NOT set, exit 0 (1.4 s)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2A3140"/>
                          </a:solidFill>
                        </a:rPr>
                        <a:t>4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2A3140"/>
                          </a:solidFill>
                        </a:rPr>
                        <a:t>Sun 12 Jul 15:20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2A3140"/>
                          </a:solidFill>
                        </a:rPr>
                        <a:t>1 d 01 h 09 m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2A3140"/>
                          </a:solidFill>
                        </a:rPr>
                        <a:t>Not active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2A3140"/>
                          </a:solidFill>
                        </a:rPr>
                        <a:t>—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2A3140"/>
                          </a:solidFill>
                        </a:rPr>
                        <a:t>Skipped — user not active; no timestamp change, exit 0 (1.4 s)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1F5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2A3140"/>
                          </a:solidFill>
                        </a:rPr>
                        <a:t>5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2A3140"/>
                          </a:solidFill>
                        </a:rPr>
                        <a:t>Mon 13 Jul 17:12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2A3140"/>
                          </a:solidFill>
                        </a:rPr>
                        <a:t>1 d 01 h 52 m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2A3140"/>
                          </a:solidFill>
                        </a:rPr>
                        <a:t>Not active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2A3140"/>
                          </a:solidFill>
                        </a:rPr>
                        <a:t>—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2A3140"/>
                          </a:solidFill>
                        </a:rPr>
                        <a:t>Skipped — user not active; no timestamp change, exit 0 (1.5 s)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2A3140"/>
                          </a:solidFill>
                        </a:rPr>
                        <a:t>6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2A3140"/>
                          </a:solidFill>
                        </a:rPr>
                        <a:t>Tue 14 Jul 06:50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2A3140"/>
                          </a:solidFill>
                        </a:rPr>
                        <a:t>13 h 38 m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2A3140"/>
                          </a:solidFill>
                        </a:rPr>
                        <a:t>ACTIVE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2A3140"/>
                          </a:solidFill>
                        </a:rPr>
                        <a:t>Clicked “Remind Me Later” after 22 min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2A3140"/>
                          </a:solidFill>
                        </a:rPr>
                        <a:t>Reminder shown; LastExecutionUTC created (06:50:59Z); deferral honoured; closed exit 0 after 22 m 28 s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1F5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2A3140"/>
                          </a:solidFill>
                        </a:rPr>
                        <a:t>7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2A3140"/>
                          </a:solidFill>
                        </a:rPr>
                        <a:t>Wed 15 Jul 08:16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2A3140"/>
                          </a:solidFill>
                        </a:rPr>
                        <a:t>1 d 01 h 26 m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2A3140"/>
                          </a:solidFill>
                        </a:rPr>
                        <a:t>ACTIVE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2A3140"/>
                          </a:solidFill>
                        </a:rPr>
                        <a:t>Clicked “Open Company Portal” after 3 m 36 s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2A3140"/>
                          </a:solidFill>
                        </a:rPr>
                        <a:t>24 h window passed → reminder shown; timestamp updated (08:16:47Z); CP deep link opened; closed exit 0 after 3 m 47 s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/>
          <p:nvPr/>
        </p:nvSpPr>
        <p:spPr>
          <a:xfrm>
            <a:off x="457200" y="292608"/>
            <a:ext cx="11274552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/>
            <a:r>
              <a:rPr lang="en-US" sz="2600" b="1" dirty="0">
                <a:solidFill>
                  <a:srgbClr val="1E2761"/>
                </a:solidFill>
              </a:rPr>
              <a:t>Report – CPC-GURRA-KFCPD  (user aw140)</a:t>
            </a:r>
          </a:p>
        </p:txBody>
      </p:sp>
      <p:graphicFrame>
        <p:nvGraphicFramePr>
          <p:cNvPr id="34" name="Table 34"/>
          <p:cNvGraphicFramePr>
            <a:graphicFrameLocks noGrp="1"/>
          </p:cNvGraphicFramePr>
          <p:nvPr/>
        </p:nvGraphicFramePr>
        <p:xfrm>
          <a:off x="457200" y="1097280"/>
          <a:ext cx="11274552" cy="914400"/>
        </p:xfrm>
        <a:graphic>
          <a:graphicData uri="http://schemas.openxmlformats.org/drawingml/2006/table">
            <a:tbl>
              <a:tblPr firstRow="1"/>
              <a:tblGrid>
                <a:gridCol w="347472"/>
                <a:gridCol w="1600200"/>
                <a:gridCol w="1417320"/>
                <a:gridCol w="1417320"/>
                <a:gridCol w="2651760"/>
                <a:gridCol w="3840480"/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Executed (UTC)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Since previous run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User status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What the user did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What the script did and how it closed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1E276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A3140"/>
                          </a:solidFill>
                        </a:rPr>
                        <a:t>1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A3140"/>
                          </a:solidFill>
                        </a:rPr>
                        <a:t>Thu 09 Jul 04:33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A3140"/>
                          </a:solidFill>
                        </a:rPr>
                        <a:t>first logged run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A3140"/>
                          </a:solidFill>
                        </a:rPr>
                        <a:t>ACTIVE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A3140"/>
                          </a:solidFill>
                        </a:rPr>
                        <a:t>Clicked “Open Company Portal” after 32 s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A3140"/>
                          </a:solidFill>
                        </a:rPr>
                        <a:t>Reminder shown; LastExecutionUTC created (04:33:13Z); CP opened; exit 0 (38 s)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A3140"/>
                          </a:solidFill>
                        </a:rPr>
                        <a:t>2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A3140"/>
                          </a:solidFill>
                        </a:rPr>
                        <a:t>Thu 09 Jul 08:24 *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A3140"/>
                          </a:solidFill>
                        </a:rPr>
                        <a:t>~2 h 51 m (manual test)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A3140"/>
                          </a:solidFill>
                        </a:rPr>
                        <a:t>ACTIVE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A3140"/>
                          </a:solidFill>
                        </a:rPr>
                        <a:t>Clicked “Open Company Portal” after 39 s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A3140"/>
                          </a:solidFill>
                        </a:rPr>
                        <a:t>Manual validation run from C:\temp; reminder shown; timestamp written 06:24:16Z (~1 h clock offset *); exit 0 (46 s)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1F5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A3140"/>
                          </a:solidFill>
                        </a:rPr>
                        <a:t>3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A3140"/>
                          </a:solidFill>
                        </a:rPr>
                        <a:t>Fri 10 Jul 05:48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A3140"/>
                          </a:solidFill>
                        </a:rPr>
                        <a:t>~22 h 24 m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A3140"/>
                          </a:solidFill>
                        </a:rPr>
                        <a:t>ACTIVE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A3140"/>
                          </a:solidFill>
                        </a:rPr>
                        <a:t>Clicked “Open Company Portal” after 1 m 18 s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A3140"/>
                          </a:solidFill>
                        </a:rPr>
                        <a:t>Reminder shown; timestamp updated (05:48:33Z); CP opened; exit 0 (1 m 24 s)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A3140"/>
                          </a:solidFill>
                        </a:rPr>
                        <a:t>4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A3140"/>
                          </a:solidFill>
                        </a:rPr>
                        <a:t>Sat 11 Jul 07:18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A3140"/>
                          </a:solidFill>
                        </a:rPr>
                        <a:t>1 d 01 h 30 m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A3140"/>
                          </a:solidFill>
                        </a:rPr>
                        <a:t>Not active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A3140"/>
                          </a:solidFill>
                        </a:rPr>
                        <a:t>—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A3140"/>
                          </a:solidFill>
                        </a:rPr>
                        <a:t>Skipped — user not active; no timestamp change, exit 0 (1.5 s)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1F5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A3140"/>
                          </a:solidFill>
                        </a:rPr>
                        <a:t>5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A3140"/>
                          </a:solidFill>
                        </a:rPr>
                        <a:t>Sun 12 Jul 07:52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A3140"/>
                          </a:solidFill>
                        </a:rPr>
                        <a:t>1 d 00 h 34 m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A3140"/>
                          </a:solidFill>
                        </a:rPr>
                        <a:t>Not active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A3140"/>
                          </a:solidFill>
                        </a:rPr>
                        <a:t>—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A3140"/>
                          </a:solidFill>
                        </a:rPr>
                        <a:t>Skipped — user not active; no timestamp change, exit 0 (1.7 s)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A3140"/>
                          </a:solidFill>
                        </a:rPr>
                        <a:t>6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A3140"/>
                          </a:solidFill>
                        </a:rPr>
                        <a:t>Mon 13 Jul 09:28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A3140"/>
                          </a:solidFill>
                        </a:rPr>
                        <a:t>1 d 01 h 35 m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A3140"/>
                          </a:solidFill>
                        </a:rPr>
                        <a:t>Not active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A3140"/>
                          </a:solidFill>
                        </a:rPr>
                        <a:t>—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A3140"/>
                          </a:solidFill>
                        </a:rPr>
                        <a:t>Skipped — user not active; no timestamp change, exit 0 (11.2 s)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1F5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A3140"/>
                          </a:solidFill>
                        </a:rPr>
                        <a:t>7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A3140"/>
                          </a:solidFill>
                        </a:rPr>
                        <a:t>Tue 14 Jul 06:20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A3140"/>
                          </a:solidFill>
                        </a:rPr>
                        <a:t>20 h 52 m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A3140"/>
                          </a:solidFill>
                        </a:rPr>
                        <a:t>Not active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A3140"/>
                          </a:solidFill>
                        </a:rPr>
                        <a:t>—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A3140"/>
                          </a:solidFill>
                        </a:rPr>
                        <a:t>Skipped — user not active; no timestamp change, exit 0 (1.6 s)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A3140"/>
                          </a:solidFill>
                        </a:rPr>
                        <a:t>8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A3140"/>
                          </a:solidFill>
                        </a:rPr>
                        <a:t>Wed 15 Jul 08:02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A3140"/>
                          </a:solidFill>
                        </a:rPr>
                        <a:t>1 d 01 h 42 m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A3140"/>
                          </a:solidFill>
                        </a:rPr>
                        <a:t>ACTIVE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A3140"/>
                          </a:solidFill>
                        </a:rPr>
                        <a:t>Clicked “Open Company Portal” after 1 m 17 s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A3140"/>
                          </a:solidFill>
                        </a:rPr>
                        <a:t>More than 24 h passed → reminder shown; timestamp updated (08:02:24Z); CP opened; exit 0 (1 m 26 s)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D8E0F0"/>
                      </a:solidFill>
                    </a:lnL>
                    <a:lnR w="6350">
                      <a:solidFill>
                        <a:srgbClr val="D8E0F0"/>
                      </a:solidFill>
                    </a:lnR>
                    <a:lnT w="6350">
                      <a:solidFill>
                        <a:srgbClr val="D8E0F0"/>
                      </a:solidFill>
                    </a:lnT>
                    <a:lnB w="6350">
                      <a:solidFill>
                        <a:srgbClr val="D8E0F0"/>
                      </a:solidFill>
                    </a:lnB>
                    <a:solidFill>
                      <a:srgbClr val="F1F5FC"/>
                    </a:solidFill>
                  </a:tcPr>
                </a:tc>
              </a:tr>
            </a:tbl>
          </a:graphicData>
        </a:graphic>
      </p:graphicFrame>
      <p:sp>
        <p:nvSpPr>
          <p:cNvPr id="35" name="Shape 35"/>
          <p:cNvSpPr/>
          <p:nvPr/>
        </p:nvSpPr>
        <p:spPr>
          <a:xfrm>
            <a:off x="457200" y="598932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/>
            <a:r>
              <a:rPr lang="en-US" sz="1000" i="1" dirty="0">
                <a:solidFill>
                  <a:srgbClr val="6B7385"/>
                </a:solidFill>
              </a:rPr>
              <a:t>* Run 2 was a manual test launched from C:\temp while the device clock was logged at +60 min bias; the timestamp it stored (06:24Z) sits ~1 h behind, which is why run 3 passed the throttle at ~22–23 h on the wall clock – a test artifact, not a logic fault.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457200" y="292608"/>
            <a:ext cx="11274552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/>
            <a:r>
              <a:rPr lang="en-US" sz="2600" b="1" dirty="0">
                <a:solidFill>
                  <a:srgbClr val="1E2761"/>
                </a:solidFill>
              </a:rPr>
              <a:t>Observations and next steps</a:t>
            </a:r>
          </a:p>
        </p:txBody>
      </p:sp>
      <p:sp>
        <p:nvSpPr>
          <p:cNvPr id="37" name="Shape 37"/>
          <p:cNvSpPr/>
          <p:nvPr/>
        </p:nvSpPr>
        <p:spPr>
          <a:xfrm>
            <a:off x="457200" y="1188720"/>
            <a:ext cx="5486400" cy="4937760"/>
          </a:xfrm>
          <a:prstGeom prst="roundRect">
            <a:avLst>
              <a:gd name="adj" fmla="val 10000"/>
            </a:avLst>
          </a:prstGeom>
          <a:solidFill>
            <a:srgbClr val="F5F8F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600" b="1" dirty="0">
                <a:solidFill>
                  <a:srgbClr val="1E2761"/>
                </a:solidFill>
              </a:rPr>
              <a:t>What the logs prove</a:t>
            </a:r>
          </a:p>
          <a:p>
            <a:pPr marL="182880" indent="-182880" algn="l">
              <a:spcAft>
                <a:spcPts val="400"/>
              </a:spcAft>
              <a:buClr>
                <a:srgbClr val="1E2761"/>
              </a:buClr>
              <a:buFont typeface="Arial"/>
              <a:buChar char="•"/>
            </a:pPr>
            <a:r>
              <a:rPr lang="en-US" sz="1250" dirty="0">
                <a:solidFill>
                  <a:srgbClr val="2A3140"/>
                </a:solidFill>
              </a:rPr>
              <a:t>All 16 executions finished with exit code 0 – no failures, no hangs.</a:t>
            </a:r>
          </a:p>
          <a:p>
            <a:pPr marL="182880" indent="-182880" algn="l">
              <a:spcAft>
                <a:spcPts val="400"/>
              </a:spcAft>
              <a:buClr>
                <a:srgbClr val="1E2761"/>
              </a:buClr>
              <a:buFont typeface="Arial"/>
              <a:buChar char="•"/>
            </a:pPr>
            <a:r>
              <a:rPr lang="en-US" sz="1250" dirty="0">
                <a:solidFill>
                  <a:srgbClr val="2A3140"/>
                </a:solidFill>
              </a:rPr>
              <a:t>Check 1 works: devices without SAP GUI 7 close silently in under 4 seconds.</a:t>
            </a:r>
          </a:p>
          <a:p>
            <a:pPr marL="182880" indent="-182880" algn="l">
              <a:spcAft>
                <a:spcPts val="400"/>
              </a:spcAft>
              <a:buClr>
                <a:srgbClr val="1E2761"/>
              </a:buClr>
              <a:buFont typeface="Arial"/>
              <a:buChar char="•"/>
            </a:pPr>
            <a:r>
              <a:rPr lang="en-US" sz="1250" dirty="0">
                <a:solidFill>
                  <a:srgbClr val="2A3140"/>
                </a:solidFill>
              </a:rPr>
              <a:t>Check 3 works: 7 cycles hit a locked / disconnected session and skipped in ~1.5 s without touching the 24 h window.</a:t>
            </a:r>
          </a:p>
          <a:p>
            <a:pPr marL="182880" indent="-182880" algn="l">
              <a:spcAft>
                <a:spcPts val="400"/>
              </a:spcAft>
              <a:buClr>
                <a:srgbClr val="1E2761"/>
              </a:buClr>
              <a:buFont typeface="Arial"/>
              <a:buChar char="•"/>
            </a:pPr>
            <a:r>
              <a:rPr lang="en-US" sz="1250" dirty="0">
                <a:solidFill>
                  <a:srgbClr val="2A3140"/>
                </a:solidFill>
              </a:rPr>
              <a:t>24 h throttle works: reminders on consecutive active days were ~25 h apart; a deferral never re-prompted the same day.</a:t>
            </a:r>
          </a:p>
          <a:p>
            <a:pPr marL="182880" indent="-182880" algn="l">
              <a:buClr>
                <a:srgbClr val="1E2761"/>
              </a:buClr>
              <a:buFont typeface="Arial"/>
              <a:buChar char="•"/>
            </a:pPr>
            <a:r>
              <a:rPr lang="en-US" sz="1250" dirty="0">
                <a:solidFill>
                  <a:srgbClr val="2A3140"/>
                </a:solidFill>
              </a:rPr>
              <a:t>Both buttons verified: 5 Company Portal deep-link opens, 1 honoured deferral.</a:t>
            </a:r>
          </a:p>
        </p:txBody>
      </p:sp>
      <p:sp>
        <p:nvSpPr>
          <p:cNvPr id="38" name="Shape 38"/>
          <p:cNvSpPr/>
          <p:nvPr/>
        </p:nvSpPr>
        <p:spPr>
          <a:xfrm>
            <a:off x="6217920" y="1188720"/>
            <a:ext cx="5486400" cy="4937760"/>
          </a:xfrm>
          <a:prstGeom prst="roundRect">
            <a:avLst>
              <a:gd name="adj" fmla="val 10000"/>
            </a:avLst>
          </a:prstGeom>
          <a:solidFill>
            <a:srgbClr val="F5F8F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600" b="1" dirty="0">
                <a:solidFill>
                  <a:srgbClr val="1E2761"/>
                </a:solidFill>
              </a:rPr>
              <a:t>Next steps</a:t>
            </a:r>
          </a:p>
          <a:p>
            <a:pPr marL="182880" indent="-182880" algn="l">
              <a:spcAft>
                <a:spcPts val="400"/>
              </a:spcAft>
              <a:buClr>
                <a:srgbClr val="1E2761"/>
              </a:buClr>
              <a:buFont typeface="Arial"/>
              <a:buChar char="•"/>
            </a:pPr>
            <a:r>
              <a:rPr lang="en-US" sz="1250" dirty="0">
                <a:solidFill>
                  <a:srgbClr val="2A3140"/>
                </a:solidFill>
              </a:rPr>
              <a:t>Roll the reminder out in rings to the remaining SAP GUI 7 population.</a:t>
            </a:r>
          </a:p>
          <a:p>
            <a:pPr marL="182880" indent="-182880" algn="l">
              <a:spcAft>
                <a:spcPts val="400"/>
              </a:spcAft>
              <a:buClr>
                <a:srgbClr val="1E2761"/>
              </a:buClr>
              <a:buFont typeface="Arial"/>
              <a:buChar char="•"/>
            </a:pPr>
            <a:r>
              <a:rPr lang="en-US" sz="1250" dirty="0">
                <a:solidFill>
                  <a:srgbClr val="2A3140"/>
                </a:solidFill>
              </a:rPr>
              <a:t>Track progress via Intune: the app reports “not detected” until SAP 8 is installed – that list is exactly who still needs to act.</a:t>
            </a:r>
          </a:p>
          <a:p>
            <a:pPr marL="182880" indent="-182880" algn="l">
              <a:spcAft>
                <a:spcPts val="400"/>
              </a:spcAft>
              <a:buClr>
                <a:srgbClr val="1E2761"/>
              </a:buClr>
              <a:buFont typeface="Arial"/>
              <a:buChar char="•"/>
            </a:pPr>
            <a:r>
              <a:rPr lang="en-US" sz="1250" dirty="0">
                <a:solidFill>
                  <a:srgbClr val="2A3140"/>
                </a:solidFill>
              </a:rPr>
              <a:t>Installs go through Company Portal, so every click also seeds supersedence auto-update for SAP 8 → 9.</a:t>
            </a:r>
          </a:p>
          <a:p>
            <a:pPr marL="182880" indent="-182880" algn="l">
              <a:buClr>
                <a:srgbClr val="1E2761"/>
              </a:buClr>
              <a:buFont typeface="Arial"/>
              <a:buChar char="•"/>
            </a:pPr>
            <a:r>
              <a:rPr lang="en-US" sz="1250" dirty="0">
                <a:solidFill>
                  <a:srgbClr val="2A3140"/>
                </a:solidFill>
              </a:rPr>
              <a:t>Keep the manual-test clock artifact in mind: always validate with the production Intune delivery path.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portTheme">
  <a:themeElements>
    <a:clrScheme name="Report">
      <a:dk1>
        <a:srgbClr val="2A3140"/>
      </a:dk1>
      <a:lt1>
        <a:srgbClr val="FFFFFF"/>
      </a:lt1>
      <a:dk2>
        <a:srgbClr val="1E2761"/>
      </a:dk2>
      <a:lt2>
        <a:srgbClr val="CADCFC"/>
      </a:lt2>
      <a:accent1>
        <a:srgbClr val="1E2761"/>
      </a:accent1>
      <a:accent2>
        <a:srgbClr val="CADCFC"/>
      </a:accent2>
      <a:accent3>
        <a:srgbClr val="2E7D32"/>
      </a:accent3>
      <a:accent4>
        <a:srgbClr val="B25E00"/>
      </a:accent4>
      <a:accent5>
        <a:srgbClr val="6B7385"/>
      </a:accent5>
      <a:accent6>
        <a:srgbClr val="50808E"/>
      </a:accent6>
      <a:hlink>
        <a:srgbClr val="1E2761"/>
      </a:hlink>
      <a:folHlink>
        <a:srgbClr val="6B7385"/>
      </a:folHlink>
    </a:clrScheme>
    <a:fontScheme name="Repor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Repor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PresentationFormat>Widescreen</PresentationFormat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SAP GUI 7 to 8 Update Reminder - Process and Pilot Report</dc:title>
  <dc:creator>Packaging Team</dc:creator>
  <dcterms:created xsi:type="dcterms:W3CDTF">2026-07-15T09:00:00Z</dcterms:created>
  <dcterms:modified xsi:type="dcterms:W3CDTF">2026-07-15T09:00:00Z</dcterms:modified>
</cp:coreProperties>
</file>